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7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8058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500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883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320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840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68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495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23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147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808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1905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GB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GB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2A1DF7-758F-4EF0-A019-330F45C81B70}" type="datetimeFigureOut">
              <a:rPr lang="en-GB" smtClean="0"/>
              <a:t>12/02/2020</a:t>
            </a:fld>
            <a:endParaRPr lang="en-GB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6DC38A-2F65-42D1-9095-BF8BADF04AC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8344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72929" y="2857467"/>
            <a:ext cx="626076" cy="1912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2799005" y="2857466"/>
            <a:ext cx="626076" cy="1912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3425081" y="2857466"/>
            <a:ext cx="626076" cy="1912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5" name="Connecteur droit 14"/>
          <p:cNvCxnSpPr/>
          <p:nvPr/>
        </p:nvCxnSpPr>
        <p:spPr>
          <a:xfrm>
            <a:off x="4044511" y="2857003"/>
            <a:ext cx="62607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>
            <a:off x="4051157" y="3048730"/>
            <a:ext cx="62607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Accolade ouvrante 16"/>
          <p:cNvSpPr/>
          <p:nvPr/>
        </p:nvSpPr>
        <p:spPr>
          <a:xfrm>
            <a:off x="2449096" y="2219633"/>
            <a:ext cx="96728" cy="593123"/>
          </a:xfrm>
          <a:prstGeom prst="leftBrace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677233" y="2857465"/>
            <a:ext cx="626076" cy="1912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Ellipse 22"/>
          <p:cNvSpPr/>
          <p:nvPr/>
        </p:nvSpPr>
        <p:spPr>
          <a:xfrm>
            <a:off x="2742472" y="2893874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4" name="Ellipse 23"/>
          <p:cNvSpPr/>
          <p:nvPr/>
        </p:nvSpPr>
        <p:spPr>
          <a:xfrm>
            <a:off x="3362400" y="2882313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" name="Ellipse 24"/>
          <p:cNvSpPr/>
          <p:nvPr/>
        </p:nvSpPr>
        <p:spPr>
          <a:xfrm>
            <a:off x="3982328" y="2882313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6" name="Ellipse 25"/>
          <p:cNvSpPr/>
          <p:nvPr/>
        </p:nvSpPr>
        <p:spPr>
          <a:xfrm>
            <a:off x="4609630" y="2882313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7" name="Ellipse 26"/>
          <p:cNvSpPr/>
          <p:nvPr/>
        </p:nvSpPr>
        <p:spPr>
          <a:xfrm>
            <a:off x="5236932" y="2882313"/>
            <a:ext cx="118716" cy="13273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Ellipse 27"/>
          <p:cNvSpPr/>
          <p:nvPr/>
        </p:nvSpPr>
        <p:spPr>
          <a:xfrm>
            <a:off x="2108041" y="2888690"/>
            <a:ext cx="118716" cy="13273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Accolade ouvrante 28"/>
          <p:cNvSpPr/>
          <p:nvPr/>
        </p:nvSpPr>
        <p:spPr>
          <a:xfrm>
            <a:off x="3073649" y="2214450"/>
            <a:ext cx="96728" cy="593123"/>
          </a:xfrm>
          <a:prstGeom prst="leftBrace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ZoneTexte 29"/>
          <p:cNvSpPr txBox="1"/>
          <p:nvPr/>
        </p:nvSpPr>
        <p:spPr>
          <a:xfrm>
            <a:off x="2204883" y="2214450"/>
            <a:ext cx="6563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Layer 1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2783890" y="2203651"/>
            <a:ext cx="6563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Layer 2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Accolade ouvrante 31"/>
          <p:cNvSpPr/>
          <p:nvPr/>
        </p:nvSpPr>
        <p:spPr>
          <a:xfrm>
            <a:off x="4944566" y="2214450"/>
            <a:ext cx="96728" cy="593123"/>
          </a:xfrm>
          <a:prstGeom prst="leftBrace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4654807" y="2203651"/>
            <a:ext cx="6563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Layer N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8" name="Groupe 37"/>
          <p:cNvGrpSpPr/>
          <p:nvPr/>
        </p:nvGrpSpPr>
        <p:grpSpPr>
          <a:xfrm>
            <a:off x="2047201" y="2562677"/>
            <a:ext cx="3504332" cy="267484"/>
            <a:chOff x="2047201" y="2562677"/>
            <a:chExt cx="3504332" cy="267484"/>
          </a:xfrm>
        </p:grpSpPr>
        <p:sp>
          <p:nvSpPr>
            <p:cNvPr id="34" name="ZoneTexte 33"/>
            <p:cNvSpPr txBox="1"/>
            <p:nvPr/>
          </p:nvSpPr>
          <p:spPr>
            <a:xfrm>
              <a:off x="2047201" y="2568551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 smtClean="0"/>
                <a:t>1</a:t>
              </a:r>
              <a:endParaRPr lang="en-GB" sz="1100" baseline="-25000" dirty="0"/>
            </a:p>
          </p:txBody>
        </p:sp>
        <p:sp>
          <p:nvSpPr>
            <p:cNvPr id="35" name="ZoneTexte 34"/>
            <p:cNvSpPr txBox="1"/>
            <p:nvPr/>
          </p:nvSpPr>
          <p:spPr>
            <a:xfrm>
              <a:off x="2656051" y="2566593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/>
                <a:t>2</a:t>
              </a:r>
              <a:endParaRPr lang="en-GB" sz="1100" baseline="-25000" dirty="0"/>
            </a:p>
          </p:txBody>
        </p:sp>
        <p:sp>
          <p:nvSpPr>
            <p:cNvPr id="36" name="ZoneTexte 35"/>
            <p:cNvSpPr txBox="1"/>
            <p:nvPr/>
          </p:nvSpPr>
          <p:spPr>
            <a:xfrm>
              <a:off x="4503765" y="2564635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noProof="1" smtClean="0"/>
                <a:t>x</a:t>
              </a:r>
              <a:r>
                <a:rPr lang="fr-FR" sz="1100" baseline="-25000" noProof="1" smtClean="0"/>
                <a:t>N</a:t>
              </a:r>
              <a:endParaRPr lang="fr-FR" sz="1100" baseline="-25000" noProof="1"/>
            </a:p>
          </p:txBody>
        </p:sp>
        <p:sp>
          <p:nvSpPr>
            <p:cNvPr id="37" name="ZoneTexte 36"/>
            <p:cNvSpPr txBox="1"/>
            <p:nvPr/>
          </p:nvSpPr>
          <p:spPr>
            <a:xfrm>
              <a:off x="5112611" y="2562677"/>
              <a:ext cx="43892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 smtClean="0"/>
                <a:t>N+1</a:t>
              </a:r>
              <a:endParaRPr lang="en-GB" sz="1100" baseline="-25000" dirty="0"/>
            </a:p>
          </p:txBody>
        </p:sp>
        <p:sp>
          <p:nvSpPr>
            <p:cNvPr id="57" name="ZoneTexte 56"/>
            <p:cNvSpPr txBox="1"/>
            <p:nvPr/>
          </p:nvSpPr>
          <p:spPr>
            <a:xfrm>
              <a:off x="3251708" y="2564635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/>
                <a:t>i</a:t>
              </a:r>
              <a:endParaRPr lang="en-GB" sz="1100" baseline="-25000" dirty="0"/>
            </a:p>
          </p:txBody>
        </p:sp>
      </p:grpSp>
      <p:grpSp>
        <p:nvGrpSpPr>
          <p:cNvPr id="39" name="Groupe 38"/>
          <p:cNvGrpSpPr/>
          <p:nvPr/>
        </p:nvGrpSpPr>
        <p:grpSpPr>
          <a:xfrm>
            <a:off x="2052121" y="3046914"/>
            <a:ext cx="3504332" cy="276711"/>
            <a:chOff x="2047201" y="2562677"/>
            <a:chExt cx="3504332" cy="276711"/>
          </a:xfrm>
        </p:grpSpPr>
        <p:sp>
          <p:nvSpPr>
            <p:cNvPr id="40" name="ZoneTexte 39"/>
            <p:cNvSpPr txBox="1"/>
            <p:nvPr/>
          </p:nvSpPr>
          <p:spPr>
            <a:xfrm>
              <a:off x="2047201" y="2568551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>
                  <a:solidFill>
                    <a:srgbClr val="FF0000"/>
                  </a:solidFill>
                </a:rPr>
                <a:t>u</a:t>
              </a:r>
              <a:r>
                <a:rPr lang="fr-FR" sz="1100" baseline="-25000" dirty="0" smtClean="0">
                  <a:solidFill>
                    <a:srgbClr val="FF0000"/>
                  </a:solidFill>
                </a:rPr>
                <a:t>1</a:t>
              </a:r>
              <a:endParaRPr lang="en-GB" sz="1100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41" name="ZoneTexte 40"/>
            <p:cNvSpPr txBox="1"/>
            <p:nvPr/>
          </p:nvSpPr>
          <p:spPr>
            <a:xfrm>
              <a:off x="2656051" y="2566593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>
                  <a:solidFill>
                    <a:schemeClr val="accent6"/>
                  </a:solidFill>
                </a:rPr>
                <a:t>u</a:t>
              </a:r>
              <a:r>
                <a:rPr lang="fr-FR" sz="1100" baseline="-25000" dirty="0" smtClean="0">
                  <a:solidFill>
                    <a:schemeClr val="accent6"/>
                  </a:solidFill>
                </a:rPr>
                <a:t>2</a:t>
              </a:r>
              <a:endParaRPr lang="en-GB" sz="1100" baseline="-25000" dirty="0">
                <a:solidFill>
                  <a:schemeClr val="accent6"/>
                </a:solidFill>
              </a:endParaRPr>
            </a:p>
          </p:txBody>
        </p:sp>
        <p:sp>
          <p:nvSpPr>
            <p:cNvPr id="42" name="ZoneTexte 41"/>
            <p:cNvSpPr txBox="1"/>
            <p:nvPr/>
          </p:nvSpPr>
          <p:spPr>
            <a:xfrm>
              <a:off x="4503765" y="2564635"/>
              <a:ext cx="34587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noProof="1" smtClean="0">
                  <a:solidFill>
                    <a:schemeClr val="accent6"/>
                  </a:solidFill>
                </a:rPr>
                <a:t>u</a:t>
              </a:r>
              <a:r>
                <a:rPr lang="fr-FR" sz="1100" baseline="-25000" noProof="1" smtClean="0">
                  <a:solidFill>
                    <a:schemeClr val="accent6"/>
                  </a:solidFill>
                </a:rPr>
                <a:t>N</a:t>
              </a:r>
              <a:endParaRPr lang="fr-FR" sz="1100" baseline="-25000" noProof="1">
                <a:solidFill>
                  <a:schemeClr val="accent6"/>
                </a:solidFill>
              </a:endParaRP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5112611" y="2562677"/>
              <a:ext cx="43892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>
                  <a:solidFill>
                    <a:srgbClr val="FF0000"/>
                  </a:solidFill>
                </a:rPr>
                <a:t>u</a:t>
              </a:r>
              <a:r>
                <a:rPr lang="fr-FR" sz="1100" baseline="-25000" dirty="0" smtClean="0">
                  <a:solidFill>
                    <a:srgbClr val="FF0000"/>
                  </a:solidFill>
                </a:rPr>
                <a:t>N+1</a:t>
              </a:r>
              <a:endParaRPr lang="en-GB" sz="1100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58" name="ZoneTexte 57"/>
            <p:cNvSpPr txBox="1"/>
            <p:nvPr/>
          </p:nvSpPr>
          <p:spPr>
            <a:xfrm>
              <a:off x="3288649" y="2577778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noProof="1" smtClean="0">
                  <a:solidFill>
                    <a:schemeClr val="accent6"/>
                  </a:solidFill>
                </a:rPr>
                <a:t>u</a:t>
              </a:r>
              <a:r>
                <a:rPr lang="en-GB" sz="1100" baseline="-25000" noProof="1" smtClean="0">
                  <a:solidFill>
                    <a:schemeClr val="accent6"/>
                  </a:solidFill>
                </a:rPr>
                <a:t>i</a:t>
              </a:r>
              <a:endParaRPr lang="en-GB" sz="1100" baseline="-25000" noProof="1">
                <a:solidFill>
                  <a:schemeClr val="accent6"/>
                </a:solidFill>
              </a:endParaRPr>
            </a:p>
          </p:txBody>
        </p:sp>
      </p:grpSp>
      <p:cxnSp>
        <p:nvCxnSpPr>
          <p:cNvPr id="45" name="Connecteur droit avec flèche 44"/>
          <p:cNvCxnSpPr/>
          <p:nvPr/>
        </p:nvCxnSpPr>
        <p:spPr>
          <a:xfrm>
            <a:off x="3777779" y="3313017"/>
            <a:ext cx="6789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ZoneTexte 45"/>
          <p:cNvSpPr txBox="1"/>
          <p:nvPr/>
        </p:nvSpPr>
        <p:spPr>
          <a:xfrm>
            <a:off x="3701568" y="3313016"/>
            <a:ext cx="8930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noProof="1" smtClean="0">
                <a:solidFill>
                  <a:schemeClr val="accent1"/>
                </a:solidFill>
              </a:rPr>
              <a:t>Velocity &gt; 0</a:t>
            </a:r>
            <a:endParaRPr lang="fr-FR" sz="1100" baseline="-25000" noProof="1">
              <a:solidFill>
                <a:schemeClr val="accent1"/>
              </a:solidFill>
            </a:endParaRPr>
          </a:p>
        </p:txBody>
      </p:sp>
      <p:cxnSp>
        <p:nvCxnSpPr>
          <p:cNvPr id="47" name="Connecteur droit avec flèche 46"/>
          <p:cNvCxnSpPr/>
          <p:nvPr/>
        </p:nvCxnSpPr>
        <p:spPr>
          <a:xfrm>
            <a:off x="3570445" y="2551486"/>
            <a:ext cx="678952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ZoneTexte 47"/>
          <p:cNvSpPr txBox="1"/>
          <p:nvPr/>
        </p:nvSpPr>
        <p:spPr>
          <a:xfrm>
            <a:off x="3494234" y="2551485"/>
            <a:ext cx="8930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noProof="1" smtClean="0">
                <a:solidFill>
                  <a:schemeClr val="accent1"/>
                </a:solidFill>
              </a:rPr>
              <a:t>Velocity &lt; 0</a:t>
            </a:r>
            <a:endParaRPr lang="fr-FR" sz="1100" baseline="-25000" noProof="1">
              <a:solidFill>
                <a:schemeClr val="accent1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41227" y="2886730"/>
            <a:ext cx="579007" cy="132734"/>
          </a:xfrm>
          <a:prstGeom prst="rect">
            <a:avLst/>
          </a:prstGeom>
          <a:noFill/>
          <a:ln w="2222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Connecteur droit avec flèche 52"/>
          <p:cNvCxnSpPr/>
          <p:nvPr/>
        </p:nvCxnSpPr>
        <p:spPr>
          <a:xfrm flipH="1" flipV="1">
            <a:off x="3324189" y="3088553"/>
            <a:ext cx="156" cy="39759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ZoneTexte 55"/>
          <p:cNvSpPr txBox="1"/>
          <p:nvPr/>
        </p:nvSpPr>
        <p:spPr>
          <a:xfrm>
            <a:off x="2910767" y="3440935"/>
            <a:ext cx="6563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accent2"/>
                </a:solidFill>
              </a:rPr>
              <a:t>Control volume</a:t>
            </a:r>
            <a:endParaRPr lang="en-GB" sz="1100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3068970" y="3062790"/>
                <a:ext cx="201529" cy="164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7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 </m:t>
                          </m:r>
                          <m:f>
                            <m:fPr>
                              <m:ctrlP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</m:oMath>
                  </m:oMathPara>
                </a14:m>
                <a:endParaRPr lang="en-GB" sz="7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8970" y="3062790"/>
                <a:ext cx="201529" cy="164404"/>
              </a:xfrm>
              <a:prstGeom prst="rect">
                <a:avLst/>
              </a:prstGeom>
              <a:blipFill rotWithShape="0">
                <a:blip r:embed="rId2"/>
                <a:stretch>
                  <a:fillRect l="-6061" r="-6061" b="-148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/>
              <p:cNvSpPr txBox="1"/>
              <p:nvPr/>
            </p:nvSpPr>
            <p:spPr>
              <a:xfrm>
                <a:off x="3625561" y="3061047"/>
                <a:ext cx="187103" cy="164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7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</m:oMath>
                  </m:oMathPara>
                </a14:m>
                <a:endParaRPr lang="en-GB" sz="7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ZoneTexte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5561" y="3061047"/>
                <a:ext cx="187103" cy="164404"/>
              </a:xfrm>
              <a:prstGeom prst="rect">
                <a:avLst/>
              </a:prstGeom>
              <a:blipFill rotWithShape="0">
                <a:blip r:embed="rId3"/>
                <a:stretch>
                  <a:fillRect l="-6667" r="-10000" b="-148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114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/>
          <p:cNvSpPr/>
          <p:nvPr/>
        </p:nvSpPr>
        <p:spPr>
          <a:xfrm>
            <a:off x="2172929" y="2857467"/>
            <a:ext cx="626076" cy="1912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3" name="Rectangle 52"/>
          <p:cNvSpPr/>
          <p:nvPr/>
        </p:nvSpPr>
        <p:spPr>
          <a:xfrm>
            <a:off x="2799005" y="2857466"/>
            <a:ext cx="626076" cy="1912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4" name="Rectangle 53"/>
          <p:cNvSpPr/>
          <p:nvPr/>
        </p:nvSpPr>
        <p:spPr>
          <a:xfrm>
            <a:off x="3425081" y="2857466"/>
            <a:ext cx="626076" cy="1912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5" name="Connecteur droit 54"/>
          <p:cNvCxnSpPr/>
          <p:nvPr/>
        </p:nvCxnSpPr>
        <p:spPr>
          <a:xfrm>
            <a:off x="4044511" y="2857003"/>
            <a:ext cx="62607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>
            <a:off x="4051157" y="3048730"/>
            <a:ext cx="62607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Accolade ouvrante 56"/>
          <p:cNvSpPr/>
          <p:nvPr/>
        </p:nvSpPr>
        <p:spPr>
          <a:xfrm>
            <a:off x="2449096" y="2219633"/>
            <a:ext cx="96728" cy="593123"/>
          </a:xfrm>
          <a:prstGeom prst="leftBrace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Ellipse 59"/>
          <p:cNvSpPr/>
          <p:nvPr/>
        </p:nvSpPr>
        <p:spPr>
          <a:xfrm>
            <a:off x="3062352" y="2882313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1" name="Ellipse 60"/>
          <p:cNvSpPr/>
          <p:nvPr/>
        </p:nvSpPr>
        <p:spPr>
          <a:xfrm>
            <a:off x="3682281" y="2882313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2" name="Ellipse 61"/>
          <p:cNvSpPr/>
          <p:nvPr/>
        </p:nvSpPr>
        <p:spPr>
          <a:xfrm>
            <a:off x="4323873" y="2882313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4" name="Ellipse 63"/>
          <p:cNvSpPr/>
          <p:nvPr/>
        </p:nvSpPr>
        <p:spPr>
          <a:xfrm>
            <a:off x="2417614" y="2888690"/>
            <a:ext cx="118716" cy="13273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ZoneTexte 65"/>
          <p:cNvSpPr txBox="1"/>
          <p:nvPr/>
        </p:nvSpPr>
        <p:spPr>
          <a:xfrm>
            <a:off x="2204883" y="2214450"/>
            <a:ext cx="6563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Layer 1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8" name="Accolade ouvrante 67"/>
          <p:cNvSpPr/>
          <p:nvPr/>
        </p:nvSpPr>
        <p:spPr>
          <a:xfrm>
            <a:off x="4306374" y="2214450"/>
            <a:ext cx="96728" cy="593123"/>
          </a:xfrm>
          <a:prstGeom prst="leftBrace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9" name="ZoneTexte 68"/>
          <p:cNvSpPr txBox="1"/>
          <p:nvPr/>
        </p:nvSpPr>
        <p:spPr>
          <a:xfrm>
            <a:off x="4016615" y="2203651"/>
            <a:ext cx="6563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Layer N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76" name="Groupe 75"/>
          <p:cNvGrpSpPr/>
          <p:nvPr/>
        </p:nvGrpSpPr>
        <p:grpSpPr>
          <a:xfrm>
            <a:off x="2021968" y="3046914"/>
            <a:ext cx="2924992" cy="279817"/>
            <a:chOff x="2017048" y="2562677"/>
            <a:chExt cx="2924992" cy="279817"/>
          </a:xfrm>
        </p:grpSpPr>
        <p:sp>
          <p:nvSpPr>
            <p:cNvPr id="77" name="ZoneTexte 76"/>
            <p:cNvSpPr txBox="1"/>
            <p:nvPr/>
          </p:nvSpPr>
          <p:spPr>
            <a:xfrm>
              <a:off x="2017048" y="2568551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>
                  <a:solidFill>
                    <a:srgbClr val="FF0000"/>
                  </a:solidFill>
                </a:rPr>
                <a:t>u</a:t>
              </a:r>
              <a:r>
                <a:rPr lang="fr-FR" sz="1100" baseline="-25000" dirty="0" smtClean="0">
                  <a:solidFill>
                    <a:srgbClr val="FF0000"/>
                  </a:solidFill>
                </a:rPr>
                <a:t>1</a:t>
              </a:r>
              <a:endParaRPr lang="en-GB" sz="1100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80" name="ZoneTexte 79"/>
            <p:cNvSpPr txBox="1"/>
            <p:nvPr/>
          </p:nvSpPr>
          <p:spPr>
            <a:xfrm>
              <a:off x="4173792" y="2562677"/>
              <a:ext cx="41569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>
                  <a:solidFill>
                    <a:schemeClr val="accent6"/>
                  </a:solidFill>
                </a:rPr>
                <a:t>u</a:t>
              </a:r>
              <a:r>
                <a:rPr lang="fr-FR" sz="1100" baseline="-25000" dirty="0" smtClean="0">
                  <a:solidFill>
                    <a:schemeClr val="accent6"/>
                  </a:solidFill>
                </a:rPr>
                <a:t>N+1</a:t>
              </a:r>
              <a:endParaRPr lang="en-GB" sz="1100" baseline="-25000" dirty="0">
                <a:solidFill>
                  <a:schemeClr val="accent6"/>
                </a:solidFill>
              </a:endParaRPr>
            </a:p>
          </p:txBody>
        </p:sp>
        <p:sp>
          <p:nvSpPr>
            <p:cNvPr id="81" name="ZoneTexte 80"/>
            <p:cNvSpPr txBox="1"/>
            <p:nvPr/>
          </p:nvSpPr>
          <p:spPr>
            <a:xfrm>
              <a:off x="2979080" y="2577778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noProof="1" smtClean="0">
                  <a:solidFill>
                    <a:schemeClr val="accent6"/>
                  </a:solidFill>
                </a:rPr>
                <a:t>u</a:t>
              </a:r>
              <a:r>
                <a:rPr lang="en-GB" sz="1100" baseline="-25000" noProof="1">
                  <a:solidFill>
                    <a:schemeClr val="accent6"/>
                  </a:solidFill>
                </a:rPr>
                <a:t>i</a:t>
              </a:r>
            </a:p>
          </p:txBody>
        </p:sp>
        <p:sp>
          <p:nvSpPr>
            <p:cNvPr id="107" name="ZoneTexte 106"/>
            <p:cNvSpPr txBox="1"/>
            <p:nvPr/>
          </p:nvSpPr>
          <p:spPr>
            <a:xfrm>
              <a:off x="3607339" y="2580884"/>
              <a:ext cx="3726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noProof="1" smtClean="0">
                  <a:solidFill>
                    <a:schemeClr val="accent6"/>
                  </a:solidFill>
                </a:rPr>
                <a:t>u</a:t>
              </a:r>
              <a:r>
                <a:rPr lang="en-GB" sz="1100" baseline="-25000" noProof="1">
                  <a:solidFill>
                    <a:schemeClr val="accent6"/>
                  </a:solidFill>
                </a:rPr>
                <a:t>N</a:t>
              </a:r>
            </a:p>
          </p:txBody>
        </p:sp>
        <p:sp>
          <p:nvSpPr>
            <p:cNvPr id="78" name="ZoneTexte 77"/>
            <p:cNvSpPr txBox="1"/>
            <p:nvPr/>
          </p:nvSpPr>
          <p:spPr>
            <a:xfrm>
              <a:off x="2324467" y="2575551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noProof="1" smtClean="0">
                  <a:solidFill>
                    <a:schemeClr val="accent6"/>
                  </a:solidFill>
                </a:rPr>
                <a:t>u</a:t>
              </a:r>
              <a:r>
                <a:rPr lang="en-GB" sz="1100" baseline="-25000" noProof="1">
                  <a:solidFill>
                    <a:schemeClr val="accent6"/>
                  </a:solidFill>
                </a:rPr>
                <a:t>2</a:t>
              </a:r>
            </a:p>
          </p:txBody>
        </p:sp>
        <p:sp>
          <p:nvSpPr>
            <p:cNvPr id="79" name="ZoneTexte 78"/>
            <p:cNvSpPr txBox="1"/>
            <p:nvPr/>
          </p:nvSpPr>
          <p:spPr>
            <a:xfrm>
              <a:off x="4505943" y="2580884"/>
              <a:ext cx="43609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>
                  <a:solidFill>
                    <a:srgbClr val="FF0000"/>
                  </a:solidFill>
                </a:rPr>
                <a:t>u</a:t>
              </a:r>
              <a:r>
                <a:rPr lang="fr-FR" sz="1100" baseline="-25000" dirty="0" smtClean="0">
                  <a:solidFill>
                    <a:srgbClr val="FF0000"/>
                  </a:solidFill>
                </a:rPr>
                <a:t>N+2</a:t>
              </a:r>
              <a:endParaRPr lang="en-GB" sz="1100" baseline="-25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86" name="Rectangle 85"/>
          <p:cNvSpPr/>
          <p:nvPr/>
        </p:nvSpPr>
        <p:spPr>
          <a:xfrm>
            <a:off x="2817377" y="2876138"/>
            <a:ext cx="579007" cy="143326"/>
          </a:xfrm>
          <a:prstGeom prst="rect">
            <a:avLst/>
          </a:prstGeom>
          <a:noFill/>
          <a:ln w="2222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Connecteur droit avec flèche 86"/>
          <p:cNvCxnSpPr/>
          <p:nvPr/>
        </p:nvCxnSpPr>
        <p:spPr>
          <a:xfrm flipH="1" flipV="1">
            <a:off x="2985715" y="3061047"/>
            <a:ext cx="156" cy="39759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ZoneTexte 87"/>
          <p:cNvSpPr txBox="1"/>
          <p:nvPr/>
        </p:nvSpPr>
        <p:spPr>
          <a:xfrm>
            <a:off x="2947924" y="3264227"/>
            <a:ext cx="6563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>
                <a:solidFill>
                  <a:schemeClr val="accent2"/>
                </a:solidFill>
              </a:rPr>
              <a:t>Control volume</a:t>
            </a:r>
            <a:endParaRPr lang="en-GB" sz="1100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/>
              <p:cNvSpPr txBox="1"/>
              <p:nvPr/>
            </p:nvSpPr>
            <p:spPr>
              <a:xfrm>
                <a:off x="2713378" y="3062790"/>
                <a:ext cx="201529" cy="164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7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 </m:t>
                          </m:r>
                          <m:f>
                            <m:fPr>
                              <m:ctrlP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</m:oMath>
                  </m:oMathPara>
                </a14:m>
                <a:endParaRPr lang="en-GB" sz="7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89" name="ZoneTexte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3378" y="3062790"/>
                <a:ext cx="201529" cy="164404"/>
              </a:xfrm>
              <a:prstGeom prst="rect">
                <a:avLst/>
              </a:prstGeom>
              <a:blipFill rotWithShape="0">
                <a:blip r:embed="rId2"/>
                <a:stretch>
                  <a:fillRect l="-6061" r="-6061" b="-148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/>
              <p:cNvSpPr txBox="1"/>
              <p:nvPr/>
            </p:nvSpPr>
            <p:spPr>
              <a:xfrm>
                <a:off x="3316009" y="3061047"/>
                <a:ext cx="187103" cy="164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7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7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7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</m:oMath>
                  </m:oMathPara>
                </a14:m>
                <a:endParaRPr lang="en-GB" sz="7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90" name="ZoneTexte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009" y="3061047"/>
                <a:ext cx="187103" cy="164404"/>
              </a:xfrm>
              <a:prstGeom prst="rect">
                <a:avLst/>
              </a:prstGeom>
              <a:blipFill rotWithShape="0">
                <a:blip r:embed="rId3"/>
                <a:stretch>
                  <a:fillRect l="-6452" r="-6452" b="-148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ZoneTexte 97"/>
          <p:cNvSpPr txBox="1"/>
          <p:nvPr/>
        </p:nvSpPr>
        <p:spPr>
          <a:xfrm>
            <a:off x="1504172" y="2746832"/>
            <a:ext cx="7266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dirty="0" smtClean="0">
                <a:solidFill>
                  <a:srgbClr val="FF0000"/>
                </a:solidFill>
              </a:rPr>
              <a:t>Ghost node Left</a:t>
            </a:r>
            <a:endParaRPr lang="en-GB" sz="1100" dirty="0">
              <a:solidFill>
                <a:srgbClr val="FF0000"/>
              </a:solidFill>
            </a:endParaRPr>
          </a:p>
        </p:txBody>
      </p:sp>
      <p:sp>
        <p:nvSpPr>
          <p:cNvPr id="103" name="ZoneTexte 102"/>
          <p:cNvSpPr txBox="1"/>
          <p:nvPr/>
        </p:nvSpPr>
        <p:spPr>
          <a:xfrm>
            <a:off x="4619012" y="2739613"/>
            <a:ext cx="82640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dirty="0" smtClean="0">
                <a:solidFill>
                  <a:srgbClr val="FF0000"/>
                </a:solidFill>
              </a:rPr>
              <a:t>Ghost node Right</a:t>
            </a:r>
            <a:endParaRPr lang="en-GB" sz="1100" dirty="0">
              <a:solidFill>
                <a:srgbClr val="FF0000"/>
              </a:solidFill>
            </a:endParaRPr>
          </a:p>
        </p:txBody>
      </p:sp>
      <p:sp>
        <p:nvSpPr>
          <p:cNvPr id="104" name="Ellipse 103"/>
          <p:cNvSpPr/>
          <p:nvPr/>
        </p:nvSpPr>
        <p:spPr>
          <a:xfrm>
            <a:off x="2111528" y="2888690"/>
            <a:ext cx="118716" cy="13273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9" name="Connecteur droit 48"/>
          <p:cNvCxnSpPr/>
          <p:nvPr/>
        </p:nvCxnSpPr>
        <p:spPr>
          <a:xfrm>
            <a:off x="4662435" y="2862877"/>
            <a:ext cx="0" cy="189911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e 47"/>
          <p:cNvGrpSpPr/>
          <p:nvPr/>
        </p:nvGrpSpPr>
        <p:grpSpPr>
          <a:xfrm>
            <a:off x="2047201" y="2562677"/>
            <a:ext cx="2828057" cy="267484"/>
            <a:chOff x="2047201" y="2562677"/>
            <a:chExt cx="2828057" cy="267484"/>
          </a:xfrm>
        </p:grpSpPr>
        <p:sp>
          <p:nvSpPr>
            <p:cNvPr id="50" name="ZoneTexte 49"/>
            <p:cNvSpPr txBox="1"/>
            <p:nvPr/>
          </p:nvSpPr>
          <p:spPr>
            <a:xfrm>
              <a:off x="2047201" y="2568551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 smtClean="0"/>
                <a:t>1</a:t>
              </a:r>
              <a:endParaRPr lang="en-GB" sz="1100" baseline="-25000" dirty="0"/>
            </a:p>
          </p:txBody>
        </p:sp>
        <p:sp>
          <p:nvSpPr>
            <p:cNvPr id="51" name="ZoneTexte 50"/>
            <p:cNvSpPr txBox="1"/>
            <p:nvPr/>
          </p:nvSpPr>
          <p:spPr>
            <a:xfrm>
              <a:off x="2656051" y="2566593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/>
                <a:t>2</a:t>
              </a:r>
              <a:endParaRPr lang="en-GB" sz="1100" baseline="-25000" dirty="0"/>
            </a:p>
          </p:txBody>
        </p:sp>
        <p:sp>
          <p:nvSpPr>
            <p:cNvPr id="58" name="ZoneTexte 57"/>
            <p:cNvSpPr txBox="1"/>
            <p:nvPr/>
          </p:nvSpPr>
          <p:spPr>
            <a:xfrm>
              <a:off x="3900515" y="2564635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noProof="1" smtClean="0"/>
                <a:t>x</a:t>
              </a:r>
              <a:r>
                <a:rPr lang="fr-FR" sz="1100" baseline="-25000" noProof="1"/>
                <a:t>N</a:t>
              </a:r>
            </a:p>
          </p:txBody>
        </p:sp>
        <p:sp>
          <p:nvSpPr>
            <p:cNvPr id="59" name="ZoneTexte 58"/>
            <p:cNvSpPr txBox="1"/>
            <p:nvPr/>
          </p:nvSpPr>
          <p:spPr>
            <a:xfrm>
              <a:off x="4436336" y="2562677"/>
              <a:ext cx="43892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 smtClean="0"/>
                <a:t>N+1</a:t>
              </a:r>
              <a:endParaRPr lang="en-GB" sz="1100" baseline="-25000" dirty="0"/>
            </a:p>
          </p:txBody>
        </p:sp>
        <p:sp>
          <p:nvSpPr>
            <p:cNvPr id="63" name="ZoneTexte 62"/>
            <p:cNvSpPr txBox="1"/>
            <p:nvPr/>
          </p:nvSpPr>
          <p:spPr>
            <a:xfrm>
              <a:off x="3283458" y="2564635"/>
              <a:ext cx="31536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 smtClean="0"/>
                <a:t>x</a:t>
              </a:r>
              <a:r>
                <a:rPr lang="fr-FR" sz="1100" baseline="-25000" dirty="0" smtClean="0"/>
                <a:t>i</a:t>
              </a:r>
              <a:endParaRPr lang="en-GB" sz="1100" baseline="-25000" dirty="0"/>
            </a:p>
          </p:txBody>
        </p:sp>
      </p:grpSp>
      <p:sp>
        <p:nvSpPr>
          <p:cNvPr id="106" name="Ellipse 105"/>
          <p:cNvSpPr/>
          <p:nvPr/>
        </p:nvSpPr>
        <p:spPr>
          <a:xfrm>
            <a:off x="4602293" y="2882385"/>
            <a:ext cx="118716" cy="13273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428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e 43"/>
          <p:cNvGrpSpPr/>
          <p:nvPr/>
        </p:nvGrpSpPr>
        <p:grpSpPr>
          <a:xfrm>
            <a:off x="679347" y="1084610"/>
            <a:ext cx="11217671" cy="5075097"/>
            <a:chOff x="679347" y="1084610"/>
            <a:chExt cx="11217671" cy="5075097"/>
          </a:xfrm>
        </p:grpSpPr>
        <p:grpSp>
          <p:nvGrpSpPr>
            <p:cNvPr id="43" name="Groupe 42"/>
            <p:cNvGrpSpPr/>
            <p:nvPr/>
          </p:nvGrpSpPr>
          <p:grpSpPr>
            <a:xfrm>
              <a:off x="679347" y="1084610"/>
              <a:ext cx="4583533" cy="5075097"/>
              <a:chOff x="679347" y="1084610"/>
              <a:chExt cx="4583533" cy="5075097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679347" y="2559771"/>
                <a:ext cx="2174789" cy="359993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Ellipse 20"/>
              <p:cNvSpPr/>
              <p:nvPr/>
            </p:nvSpPr>
            <p:spPr>
              <a:xfrm>
                <a:off x="1394117" y="1741340"/>
                <a:ext cx="733167" cy="186999"/>
              </a:xfrm>
              <a:prstGeom prst="ellipse">
                <a:avLst/>
              </a:prstGeom>
              <a:pattFill prst="pct50">
                <a:fgClr>
                  <a:srgbClr val="FF0000"/>
                </a:fgClr>
                <a:bgClr>
                  <a:schemeClr val="bg1"/>
                </a:bgClr>
              </a:patt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Ellipse 21"/>
              <p:cNvSpPr/>
              <p:nvPr/>
            </p:nvSpPr>
            <p:spPr>
              <a:xfrm rot="5400000">
                <a:off x="2491534" y="5704842"/>
                <a:ext cx="716691" cy="193039"/>
              </a:xfrm>
              <a:prstGeom prst="ellipse">
                <a:avLst/>
              </a:prstGeom>
              <a:pattFill prst="pct50">
                <a:fgClr>
                  <a:schemeClr val="accent1"/>
                </a:fgClr>
                <a:bgClr>
                  <a:schemeClr val="bg1"/>
                </a:bgClr>
              </a:patt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Forme libre 23"/>
              <p:cNvSpPr/>
              <p:nvPr/>
            </p:nvSpPr>
            <p:spPr>
              <a:xfrm>
                <a:off x="1225207" y="2560319"/>
                <a:ext cx="258153" cy="3599385"/>
              </a:xfrm>
              <a:custGeom>
                <a:avLst/>
                <a:gdLst>
                  <a:gd name="connsiteX0" fmla="*/ 258153 w 258153"/>
                  <a:gd name="connsiteY0" fmla="*/ 2499360 h 2499360"/>
                  <a:gd name="connsiteX1" fmla="*/ 34633 w 258153"/>
                  <a:gd name="connsiteY1" fmla="*/ 1239520 h 2499360"/>
                  <a:gd name="connsiteX2" fmla="*/ 4153 w 258153"/>
                  <a:gd name="connsiteY2" fmla="*/ 0 h 2499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8153" h="2499360">
                    <a:moveTo>
                      <a:pt x="258153" y="2499360"/>
                    </a:moveTo>
                    <a:cubicBezTo>
                      <a:pt x="167559" y="2077720"/>
                      <a:pt x="76966" y="1656080"/>
                      <a:pt x="34633" y="1239520"/>
                    </a:cubicBezTo>
                    <a:cubicBezTo>
                      <a:pt x="-7700" y="822960"/>
                      <a:pt x="-1774" y="411480"/>
                      <a:pt x="4153" y="0"/>
                    </a:cubicBezTo>
                  </a:path>
                </a:pathLst>
              </a:custGeom>
              <a:solidFill>
                <a:srgbClr val="FF3737"/>
              </a:solidFill>
              <a:ln>
                <a:solidFill>
                  <a:srgbClr val="FF373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Forme libre 24"/>
              <p:cNvSpPr/>
              <p:nvPr/>
            </p:nvSpPr>
            <p:spPr>
              <a:xfrm flipH="1">
                <a:off x="2032000" y="2560320"/>
                <a:ext cx="254000" cy="3599384"/>
              </a:xfrm>
              <a:custGeom>
                <a:avLst/>
                <a:gdLst>
                  <a:gd name="connsiteX0" fmla="*/ 258153 w 258153"/>
                  <a:gd name="connsiteY0" fmla="*/ 2499360 h 2499360"/>
                  <a:gd name="connsiteX1" fmla="*/ 34633 w 258153"/>
                  <a:gd name="connsiteY1" fmla="*/ 1239520 h 2499360"/>
                  <a:gd name="connsiteX2" fmla="*/ 4153 w 258153"/>
                  <a:gd name="connsiteY2" fmla="*/ 0 h 2499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8153" h="2499360">
                    <a:moveTo>
                      <a:pt x="258153" y="2499360"/>
                    </a:moveTo>
                    <a:cubicBezTo>
                      <a:pt x="167559" y="2077720"/>
                      <a:pt x="76966" y="1656080"/>
                      <a:pt x="34633" y="1239520"/>
                    </a:cubicBezTo>
                    <a:cubicBezTo>
                      <a:pt x="-7700" y="822960"/>
                      <a:pt x="-1774" y="411480"/>
                      <a:pt x="4153" y="0"/>
                    </a:cubicBezTo>
                  </a:path>
                </a:pathLst>
              </a:custGeom>
              <a:solidFill>
                <a:srgbClr val="FF3737"/>
              </a:solidFill>
              <a:ln>
                <a:solidFill>
                  <a:srgbClr val="FF373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7" name="Trapèze 26"/>
              <p:cNvSpPr/>
              <p:nvPr/>
            </p:nvSpPr>
            <p:spPr>
              <a:xfrm rot="10800000">
                <a:off x="1225203" y="2559769"/>
                <a:ext cx="1060793" cy="3599935"/>
              </a:xfrm>
              <a:prstGeom prst="trapezoid">
                <a:avLst/>
              </a:prstGeom>
              <a:solidFill>
                <a:srgbClr val="FF3737"/>
              </a:solidFill>
              <a:ln>
                <a:solidFill>
                  <a:srgbClr val="FF373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494755" y="3261360"/>
                <a:ext cx="538480" cy="289834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1394117" y="1838960"/>
                <a:ext cx="733167" cy="720810"/>
              </a:xfrm>
              <a:prstGeom prst="rect">
                <a:avLst/>
              </a:prstGeom>
              <a:solidFill>
                <a:srgbClr val="FF373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1" name="Connecteur droit 30"/>
              <p:cNvCxnSpPr>
                <a:endCxn id="21" idx="2"/>
              </p:cNvCxnSpPr>
              <p:nvPr/>
            </p:nvCxnSpPr>
            <p:spPr>
              <a:xfrm flipV="1">
                <a:off x="1394117" y="1834840"/>
                <a:ext cx="0" cy="72493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/>
              <p:cNvCxnSpPr>
                <a:stCxn id="21" idx="6"/>
              </p:cNvCxnSpPr>
              <p:nvPr/>
            </p:nvCxnSpPr>
            <p:spPr>
              <a:xfrm>
                <a:off x="2127284" y="1834840"/>
                <a:ext cx="0" cy="72493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Rectangle 33"/>
              <p:cNvSpPr/>
              <p:nvPr/>
            </p:nvSpPr>
            <p:spPr>
              <a:xfrm>
                <a:off x="3027680" y="2559769"/>
                <a:ext cx="619760" cy="325671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3027680" y="3250649"/>
                <a:ext cx="619760" cy="325671"/>
              </a:xfrm>
              <a:prstGeom prst="rect">
                <a:avLst/>
              </a:prstGeom>
              <a:solidFill>
                <a:srgbClr val="FF373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ZoneTexte 35"/>
              <p:cNvSpPr txBox="1"/>
              <p:nvPr/>
            </p:nvSpPr>
            <p:spPr>
              <a:xfrm>
                <a:off x="3647440" y="2559769"/>
                <a:ext cx="161544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 err="1" smtClean="0"/>
                  <a:t>Fluid</a:t>
                </a:r>
                <a:r>
                  <a:rPr lang="fr-FR" dirty="0" smtClean="0"/>
                  <a:t> at room </a:t>
                </a:r>
                <a:r>
                  <a:rPr lang="fr-FR" dirty="0" err="1" smtClean="0"/>
                  <a:t>temperature</a:t>
                </a:r>
                <a:r>
                  <a:rPr lang="fr-FR" dirty="0" smtClean="0"/>
                  <a:t> </a:t>
                </a:r>
                <a:endParaRPr lang="en-GB" dirty="0"/>
              </a:p>
            </p:txBody>
          </p:sp>
          <p:sp>
            <p:nvSpPr>
              <p:cNvPr id="37" name="ZoneTexte 36"/>
              <p:cNvSpPr txBox="1"/>
              <p:nvPr/>
            </p:nvSpPr>
            <p:spPr>
              <a:xfrm>
                <a:off x="3657600" y="3228818"/>
                <a:ext cx="160528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 err="1" smtClean="0"/>
                  <a:t>Fluid</a:t>
                </a:r>
                <a:r>
                  <a:rPr lang="fr-FR" dirty="0" smtClean="0"/>
                  <a:t> </a:t>
                </a:r>
                <a:r>
                  <a:rPr lang="fr-FR" dirty="0" err="1" smtClean="0"/>
                  <a:t>moved</a:t>
                </a:r>
                <a:r>
                  <a:rPr lang="fr-FR" dirty="0" smtClean="0"/>
                  <a:t> by the </a:t>
                </a:r>
                <a:r>
                  <a:rPr lang="fr-FR" dirty="0" err="1" smtClean="0"/>
                  <a:t>buoyancy</a:t>
                </a:r>
                <a:endParaRPr lang="en-GB" dirty="0"/>
              </a:p>
            </p:txBody>
          </p:sp>
          <p:sp>
            <p:nvSpPr>
              <p:cNvPr id="38" name="ZoneTexte 37"/>
              <p:cNvSpPr txBox="1"/>
              <p:nvPr/>
            </p:nvSpPr>
            <p:spPr>
              <a:xfrm>
                <a:off x="1198731" y="1084610"/>
                <a:ext cx="113052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dirty="0" err="1" smtClean="0"/>
                  <a:t>Outlet</a:t>
                </a:r>
                <a:r>
                  <a:rPr lang="fr-FR" dirty="0" smtClean="0"/>
                  <a:t> to </a:t>
                </a:r>
                <a:r>
                  <a:rPr lang="fr-FR" dirty="0" err="1" smtClean="0"/>
                  <a:t>outside</a:t>
                </a:r>
                <a:endParaRPr lang="en-GB" dirty="0"/>
              </a:p>
            </p:txBody>
          </p:sp>
          <p:sp>
            <p:nvSpPr>
              <p:cNvPr id="39" name="ZoneTexte 38"/>
              <p:cNvSpPr txBox="1"/>
              <p:nvPr/>
            </p:nvSpPr>
            <p:spPr>
              <a:xfrm>
                <a:off x="3006121" y="5478195"/>
                <a:ext cx="156100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 smtClean="0"/>
                  <a:t>Air </a:t>
                </a:r>
                <a:r>
                  <a:rPr lang="fr-FR" dirty="0" err="1" smtClean="0"/>
                  <a:t>suction</a:t>
                </a:r>
                <a:r>
                  <a:rPr lang="fr-FR" dirty="0" smtClean="0"/>
                  <a:t> </a:t>
                </a:r>
                <a:r>
                  <a:rPr lang="fr-FR" dirty="0" err="1" smtClean="0"/>
                  <a:t>from</a:t>
                </a:r>
                <a:r>
                  <a:rPr lang="fr-FR" dirty="0" smtClean="0"/>
                  <a:t> the room</a:t>
                </a:r>
                <a:endParaRPr lang="en-GB" dirty="0"/>
              </a:p>
            </p:txBody>
          </p:sp>
        </p:grpSp>
        <p:pic>
          <p:nvPicPr>
            <p:cNvPr id="41" name="Image 4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18232" y="2722604"/>
              <a:ext cx="5378786" cy="2560095"/>
            </a:xfrm>
            <a:prstGeom prst="rect">
              <a:avLst/>
            </a:prstGeom>
          </p:spPr>
        </p:pic>
        <p:sp>
          <p:nvSpPr>
            <p:cNvPr id="42" name="Flèche droite 41"/>
            <p:cNvSpPr/>
            <p:nvPr/>
          </p:nvSpPr>
          <p:spPr>
            <a:xfrm>
              <a:off x="5147456" y="4150203"/>
              <a:ext cx="863600" cy="447040"/>
            </a:xfrm>
            <a:prstGeom prst="rightArrow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301376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18" y="71207"/>
            <a:ext cx="2313433" cy="3092469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80" r="28656"/>
          <a:stretch/>
        </p:blipFill>
        <p:spPr>
          <a:xfrm>
            <a:off x="3133264" y="71206"/>
            <a:ext cx="1493521" cy="3092469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25" r="29517"/>
          <a:stretch/>
        </p:blipFill>
        <p:spPr>
          <a:xfrm>
            <a:off x="5283199" y="71206"/>
            <a:ext cx="1524001" cy="30924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87680" y="3495040"/>
            <a:ext cx="1788160" cy="32410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/>
          <p:cNvSpPr/>
          <p:nvPr/>
        </p:nvSpPr>
        <p:spPr>
          <a:xfrm>
            <a:off x="640080" y="6126480"/>
            <a:ext cx="1473200" cy="4470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5039360"/>
            <a:ext cx="1473200" cy="98943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40080" y="4492678"/>
            <a:ext cx="1473200" cy="447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1473200" cy="73543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6760" y="6299200"/>
            <a:ext cx="1259840" cy="26416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25" name="ZoneTexte 24"/>
          <p:cNvSpPr txBox="1"/>
          <p:nvPr/>
        </p:nvSpPr>
        <p:spPr>
          <a:xfrm>
            <a:off x="640080" y="6088390"/>
            <a:ext cx="1473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1</a:t>
            </a:r>
            <a:endParaRPr lang="en-GB" sz="1100" dirty="0"/>
          </a:p>
        </p:txBody>
      </p:sp>
      <p:sp>
        <p:nvSpPr>
          <p:cNvPr id="26" name="Rectangle 25"/>
          <p:cNvSpPr/>
          <p:nvPr/>
        </p:nvSpPr>
        <p:spPr>
          <a:xfrm>
            <a:off x="746760" y="5384800"/>
            <a:ext cx="1259840" cy="63383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46760" y="4701640"/>
            <a:ext cx="1259840" cy="22791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46760" y="3962400"/>
            <a:ext cx="1259840" cy="42047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29" name="ZoneTexte 28"/>
          <p:cNvSpPr txBox="1"/>
          <p:nvPr/>
        </p:nvSpPr>
        <p:spPr>
          <a:xfrm>
            <a:off x="640080" y="5081275"/>
            <a:ext cx="1473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2</a:t>
            </a:r>
            <a:endParaRPr lang="en-GB" sz="1100" dirty="0"/>
          </a:p>
        </p:txBody>
      </p:sp>
      <p:sp>
        <p:nvSpPr>
          <p:cNvPr id="30" name="ZoneTexte 29"/>
          <p:cNvSpPr txBox="1"/>
          <p:nvPr/>
        </p:nvSpPr>
        <p:spPr>
          <a:xfrm>
            <a:off x="640080" y="4470511"/>
            <a:ext cx="1447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…</a:t>
            </a:r>
            <a:endParaRPr lang="en-GB" sz="1100" dirty="0"/>
          </a:p>
        </p:txBody>
      </p:sp>
      <p:sp>
        <p:nvSpPr>
          <p:cNvPr id="31" name="ZoneTexte 30"/>
          <p:cNvSpPr txBox="1"/>
          <p:nvPr/>
        </p:nvSpPr>
        <p:spPr>
          <a:xfrm>
            <a:off x="652780" y="3670310"/>
            <a:ext cx="1447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N</a:t>
            </a:r>
            <a:endParaRPr lang="en-GB" sz="1100" dirty="0"/>
          </a:p>
        </p:txBody>
      </p:sp>
      <p:sp>
        <p:nvSpPr>
          <p:cNvPr id="32" name="Double flèche horizontale 31"/>
          <p:cNvSpPr/>
          <p:nvPr/>
        </p:nvSpPr>
        <p:spPr>
          <a:xfrm>
            <a:off x="2763519" y="4939718"/>
            <a:ext cx="2536035" cy="27236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ZoneTexte 32"/>
          <p:cNvSpPr txBox="1"/>
          <p:nvPr/>
        </p:nvSpPr>
        <p:spPr>
          <a:xfrm>
            <a:off x="2758443" y="5246131"/>
            <a:ext cx="2563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Equivalent thermal arrangement</a:t>
            </a:r>
            <a:endParaRPr lang="en-GB" sz="1400" dirty="0"/>
          </a:p>
        </p:txBody>
      </p:sp>
      <p:cxnSp>
        <p:nvCxnSpPr>
          <p:cNvPr id="37" name="Connecteur droit 36"/>
          <p:cNvCxnSpPr/>
          <p:nvPr/>
        </p:nvCxnSpPr>
        <p:spPr>
          <a:xfrm>
            <a:off x="2476851" y="3677920"/>
            <a:ext cx="408590" cy="0"/>
          </a:xfrm>
          <a:prstGeom prst="line">
            <a:avLst/>
          </a:prstGeom>
          <a:ln w="1905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/>
          <p:cNvSpPr txBox="1"/>
          <p:nvPr/>
        </p:nvSpPr>
        <p:spPr>
          <a:xfrm>
            <a:off x="2976880" y="3495040"/>
            <a:ext cx="2687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</a:rPr>
              <a:t>Outer cabinet area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39" name="Connecteur droit 38"/>
          <p:cNvCxnSpPr/>
          <p:nvPr/>
        </p:nvCxnSpPr>
        <p:spPr>
          <a:xfrm>
            <a:off x="2476851" y="4023360"/>
            <a:ext cx="40859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/>
          <p:cNvSpPr txBox="1"/>
          <p:nvPr/>
        </p:nvSpPr>
        <p:spPr>
          <a:xfrm>
            <a:off x="2976880" y="3840480"/>
            <a:ext cx="2687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 smtClean="0">
                <a:solidFill>
                  <a:schemeClr val="accent2"/>
                </a:solidFill>
              </a:rPr>
              <a:t>Inner</a:t>
            </a:r>
            <a:r>
              <a:rPr lang="fr-FR" dirty="0" smtClean="0">
                <a:solidFill>
                  <a:schemeClr val="accent2"/>
                </a:solidFill>
              </a:rPr>
              <a:t> cabinet area</a:t>
            </a:r>
            <a:endParaRPr lang="en-GB" dirty="0">
              <a:solidFill>
                <a:schemeClr val="accent2"/>
              </a:solidFill>
            </a:endParaRPr>
          </a:p>
        </p:txBody>
      </p:sp>
      <p:cxnSp>
        <p:nvCxnSpPr>
          <p:cNvPr id="41" name="Connecteur droit 40"/>
          <p:cNvCxnSpPr/>
          <p:nvPr/>
        </p:nvCxnSpPr>
        <p:spPr>
          <a:xfrm>
            <a:off x="2487011" y="4368800"/>
            <a:ext cx="408590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ZoneTexte 41"/>
          <p:cNvSpPr txBox="1"/>
          <p:nvPr/>
        </p:nvSpPr>
        <p:spPr>
          <a:xfrm>
            <a:off x="2987040" y="4185920"/>
            <a:ext cx="2687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Outer </a:t>
            </a:r>
            <a:r>
              <a:rPr lang="fr-FR" dirty="0" err="1" smtClean="0">
                <a:solidFill>
                  <a:srgbClr val="FF0000"/>
                </a:solidFill>
              </a:rPr>
              <a:t>heatsink</a:t>
            </a:r>
            <a:r>
              <a:rPr lang="fr-FR" dirty="0" smtClean="0">
                <a:solidFill>
                  <a:srgbClr val="FF0000"/>
                </a:solidFill>
              </a:rPr>
              <a:t> area</a:t>
            </a:r>
            <a:endParaRPr lang="en-GB" dirty="0">
              <a:solidFill>
                <a:srgbClr val="FF0000"/>
              </a:solidFill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6949440" y="3490918"/>
            <a:ext cx="2099262" cy="3241040"/>
            <a:chOff x="5302684" y="3612838"/>
            <a:chExt cx="1788160" cy="3241040"/>
          </a:xfrm>
        </p:grpSpPr>
        <p:sp>
          <p:nvSpPr>
            <p:cNvPr id="36" name="Rectangle 35"/>
            <p:cNvSpPr/>
            <p:nvPr/>
          </p:nvSpPr>
          <p:spPr>
            <a:xfrm>
              <a:off x="5302684" y="3612838"/>
              <a:ext cx="1788160" cy="324104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rgbClr val="0070C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5455085" y="3779520"/>
              <a:ext cx="1473200" cy="2905760"/>
            </a:xfrm>
            <a:prstGeom prst="rect">
              <a:avLst/>
            </a:prstGeom>
            <a:solidFill>
              <a:schemeClr val="bg1"/>
            </a:solidFill>
            <a:ln w="25400" cmpd="sng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5664198" y="4048174"/>
              <a:ext cx="1062809" cy="2374318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3" name="ZoneTexte 2"/>
          <p:cNvSpPr txBox="1"/>
          <p:nvPr/>
        </p:nvSpPr>
        <p:spPr>
          <a:xfrm>
            <a:off x="7294880" y="3926254"/>
            <a:ext cx="13899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 i="1" dirty="0" err="1" smtClean="0"/>
              <a:t>Emitter</a:t>
            </a:r>
            <a:r>
              <a:rPr lang="fr-FR" sz="1400" dirty="0" smtClean="0"/>
              <a:t> (</a:t>
            </a:r>
            <a:r>
              <a:rPr lang="fr-FR" sz="1400" dirty="0" err="1" smtClean="0"/>
              <a:t>heat</a:t>
            </a:r>
            <a:r>
              <a:rPr lang="fr-FR" sz="1400" dirty="0" smtClean="0"/>
              <a:t> </a:t>
            </a:r>
            <a:r>
              <a:rPr lang="fr-FR" sz="1400" dirty="0" err="1" smtClean="0"/>
              <a:t>sink</a:t>
            </a:r>
            <a:r>
              <a:rPr lang="fr-FR" sz="1400" dirty="0" smtClean="0"/>
              <a:t>):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Convective surface: </a:t>
            </a:r>
            <a:r>
              <a:rPr lang="fr-FR" sz="1000" b="1" i="1" dirty="0" smtClean="0"/>
              <a:t>A1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Equivalente radiant surface: </a:t>
            </a:r>
            <a:r>
              <a:rPr lang="fr-FR" sz="1000" b="1" i="1" dirty="0"/>
              <a:t>A2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Equivalent </a:t>
            </a:r>
            <a:r>
              <a:rPr lang="fr-FR" sz="1000" dirty="0" err="1" smtClean="0"/>
              <a:t>emissivity</a:t>
            </a:r>
            <a:endParaRPr lang="fr-FR" sz="1000" b="1" i="1" dirty="0" smtClean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Mass: 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err="1" smtClean="0"/>
              <a:t>Internal</a:t>
            </a:r>
            <a:r>
              <a:rPr lang="fr-FR" sz="1000" dirty="0" smtClean="0"/>
              <a:t> </a:t>
            </a:r>
            <a:r>
              <a:rPr lang="fr-FR" sz="1000" dirty="0" err="1" smtClean="0"/>
              <a:t>heat</a:t>
            </a:r>
            <a:r>
              <a:rPr lang="fr-FR" sz="1000" dirty="0" smtClean="0"/>
              <a:t> </a:t>
            </a:r>
            <a:r>
              <a:rPr lang="fr-FR" sz="1000" dirty="0" err="1" smtClean="0"/>
              <a:t>load</a:t>
            </a:r>
            <a:endParaRPr lang="en-GB" sz="1000" dirty="0"/>
          </a:p>
        </p:txBody>
      </p:sp>
      <p:cxnSp>
        <p:nvCxnSpPr>
          <p:cNvPr id="12" name="Connecteur droit avec flèche 11"/>
          <p:cNvCxnSpPr>
            <a:stCxn id="43" idx="1"/>
            <a:endCxn id="17" idx="3"/>
          </p:cNvCxnSpPr>
          <p:nvPr/>
        </p:nvCxnSpPr>
        <p:spPr>
          <a:xfrm flipH="1" flipV="1">
            <a:off x="6758600" y="3681919"/>
            <a:ext cx="369756" cy="1428561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5483519" y="3481864"/>
            <a:ext cx="1275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Radiant-convective </a:t>
            </a:r>
            <a:r>
              <a:rPr lang="fr-FR" sz="1000" dirty="0" err="1" smtClean="0"/>
              <a:t>internal</a:t>
            </a:r>
            <a:r>
              <a:rPr lang="fr-FR" sz="1000" dirty="0" smtClean="0"/>
              <a:t> surface: </a:t>
            </a:r>
            <a:r>
              <a:rPr lang="fr-FR" sz="1000" b="1" i="1" dirty="0" smtClean="0"/>
              <a:t>A3</a:t>
            </a:r>
            <a:endParaRPr lang="en-GB" sz="1000" b="1" i="1" dirty="0"/>
          </a:p>
        </p:txBody>
      </p:sp>
      <p:sp>
        <p:nvSpPr>
          <p:cNvPr id="47" name="ZoneTexte 46"/>
          <p:cNvSpPr txBox="1"/>
          <p:nvPr/>
        </p:nvSpPr>
        <p:spPr>
          <a:xfrm>
            <a:off x="5466079" y="4142135"/>
            <a:ext cx="1275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Convective </a:t>
            </a:r>
            <a:r>
              <a:rPr lang="fr-FR" sz="1000" dirty="0" err="1" smtClean="0"/>
              <a:t>outer</a:t>
            </a:r>
            <a:r>
              <a:rPr lang="fr-FR" sz="1000" dirty="0" smtClean="0"/>
              <a:t> surface : </a:t>
            </a:r>
            <a:r>
              <a:rPr lang="fr-FR" sz="1000" b="1" i="1" dirty="0"/>
              <a:t>A4</a:t>
            </a:r>
            <a:endParaRPr lang="en-GB" sz="1000" b="1" i="1" dirty="0"/>
          </a:p>
        </p:txBody>
      </p:sp>
      <p:sp>
        <p:nvSpPr>
          <p:cNvPr id="48" name="ZoneTexte 47"/>
          <p:cNvSpPr txBox="1"/>
          <p:nvPr/>
        </p:nvSpPr>
        <p:spPr>
          <a:xfrm>
            <a:off x="5466079" y="4751735"/>
            <a:ext cx="1275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Equivalent radiant </a:t>
            </a:r>
            <a:r>
              <a:rPr lang="fr-FR" sz="1000" dirty="0" err="1" smtClean="0"/>
              <a:t>outer</a:t>
            </a:r>
            <a:r>
              <a:rPr lang="fr-FR" sz="1000" dirty="0" smtClean="0"/>
              <a:t> surface : </a:t>
            </a:r>
            <a:r>
              <a:rPr lang="fr-FR" sz="1000" b="1" i="1" dirty="0" smtClean="0"/>
              <a:t>A5</a:t>
            </a:r>
            <a:endParaRPr lang="en-GB" sz="1000" b="1" i="1" dirty="0"/>
          </a:p>
        </p:txBody>
      </p:sp>
      <p:cxnSp>
        <p:nvCxnSpPr>
          <p:cNvPr id="19" name="Connecteur droit avec flèche 18"/>
          <p:cNvCxnSpPr>
            <a:stCxn id="47" idx="3"/>
            <a:endCxn id="36" idx="1"/>
          </p:cNvCxnSpPr>
          <p:nvPr/>
        </p:nvCxnSpPr>
        <p:spPr>
          <a:xfrm>
            <a:off x="6741160" y="4342190"/>
            <a:ext cx="208280" cy="769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/>
          <p:cNvCxnSpPr>
            <a:stCxn id="48" idx="3"/>
            <a:endCxn id="36" idx="1"/>
          </p:cNvCxnSpPr>
          <p:nvPr/>
        </p:nvCxnSpPr>
        <p:spPr>
          <a:xfrm>
            <a:off x="6741160" y="4951790"/>
            <a:ext cx="208280" cy="15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6949440" y="3399478"/>
            <a:ext cx="20992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i="1" dirty="0" smtClean="0"/>
              <a:t>Casing</a:t>
            </a:r>
            <a:endParaRPr lang="en-GB" sz="2000" b="1" i="1" dirty="0"/>
          </a:p>
        </p:txBody>
      </p:sp>
      <p:cxnSp>
        <p:nvCxnSpPr>
          <p:cNvPr id="49" name="Connecteur droit avec flèche 48"/>
          <p:cNvCxnSpPr/>
          <p:nvPr/>
        </p:nvCxnSpPr>
        <p:spPr>
          <a:xfrm flipV="1">
            <a:off x="7231985" y="3926254"/>
            <a:ext cx="0" cy="237294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/>
          <p:cNvCxnSpPr>
            <a:endCxn id="53" idx="3"/>
          </p:cNvCxnSpPr>
          <p:nvPr/>
        </p:nvCxnSpPr>
        <p:spPr>
          <a:xfrm flipH="1" flipV="1">
            <a:off x="6741160" y="5581710"/>
            <a:ext cx="490826" cy="7174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ZoneTexte 52"/>
          <p:cNvSpPr txBox="1"/>
          <p:nvPr/>
        </p:nvSpPr>
        <p:spPr>
          <a:xfrm>
            <a:off x="5466079" y="5381655"/>
            <a:ext cx="1275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Characteristic</a:t>
            </a:r>
            <a:r>
              <a:rPr lang="fr-FR" sz="1000" dirty="0" smtClean="0"/>
              <a:t> </a:t>
            </a:r>
            <a:r>
              <a:rPr lang="fr-FR" sz="1000" dirty="0" err="1" smtClean="0"/>
              <a:t>length</a:t>
            </a:r>
            <a:r>
              <a:rPr lang="fr-FR" sz="1000" dirty="0" smtClean="0"/>
              <a:t> of </a:t>
            </a:r>
            <a:r>
              <a:rPr lang="fr-FR" sz="1000" dirty="0" err="1" smtClean="0"/>
              <a:t>emitter</a:t>
            </a:r>
            <a:r>
              <a:rPr lang="fr-FR" sz="1000" dirty="0" smtClean="0"/>
              <a:t>: </a:t>
            </a:r>
            <a:r>
              <a:rPr lang="fr-FR" sz="1000" b="1" i="1" dirty="0" err="1" smtClean="0"/>
              <a:t>L_emitter</a:t>
            </a:r>
            <a:endParaRPr lang="en-GB" sz="1000" b="1" i="1" dirty="0"/>
          </a:p>
        </p:txBody>
      </p:sp>
      <p:cxnSp>
        <p:nvCxnSpPr>
          <p:cNvPr id="56" name="Connecteur droit avec flèche 55"/>
          <p:cNvCxnSpPr/>
          <p:nvPr/>
        </p:nvCxnSpPr>
        <p:spPr>
          <a:xfrm flipH="1" flipV="1">
            <a:off x="8938865" y="3568755"/>
            <a:ext cx="1935" cy="3086045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>
            <a:endCxn id="61" idx="3"/>
          </p:cNvCxnSpPr>
          <p:nvPr/>
        </p:nvCxnSpPr>
        <p:spPr>
          <a:xfrm flipH="1" flipV="1">
            <a:off x="6761506" y="6404693"/>
            <a:ext cx="2177360" cy="229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5486425" y="6204638"/>
            <a:ext cx="1275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Characteristic</a:t>
            </a:r>
            <a:r>
              <a:rPr lang="fr-FR" sz="1000" dirty="0" smtClean="0"/>
              <a:t> </a:t>
            </a:r>
            <a:r>
              <a:rPr lang="fr-FR" sz="1000" dirty="0" err="1" smtClean="0"/>
              <a:t>length</a:t>
            </a:r>
            <a:r>
              <a:rPr lang="fr-FR" sz="1000" dirty="0" smtClean="0"/>
              <a:t> of casing: </a:t>
            </a:r>
            <a:r>
              <a:rPr lang="fr-FR" sz="1000" b="1" i="1" dirty="0" err="1" smtClean="0"/>
              <a:t>L_casing</a:t>
            </a:r>
            <a:endParaRPr lang="en-GB" sz="1000" b="1" i="1" dirty="0"/>
          </a:p>
        </p:txBody>
      </p:sp>
    </p:spTree>
    <p:extLst>
      <p:ext uri="{BB962C8B-B14F-4D97-AF65-F5344CB8AC3E}">
        <p14:creationId xmlns:p14="http://schemas.microsoft.com/office/powerpoint/2010/main" val="3817236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87680" y="3495040"/>
            <a:ext cx="1788160" cy="32410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640080" y="6126480"/>
            <a:ext cx="1473200" cy="4470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40080" y="5039360"/>
            <a:ext cx="1473200" cy="98943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4492678"/>
            <a:ext cx="1473200" cy="4470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473200" cy="73543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6760" y="6299200"/>
            <a:ext cx="1259840" cy="26416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640080" y="6088390"/>
            <a:ext cx="1473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1</a:t>
            </a:r>
            <a:endParaRPr lang="en-GB" sz="1100" dirty="0"/>
          </a:p>
        </p:txBody>
      </p:sp>
      <p:sp>
        <p:nvSpPr>
          <p:cNvPr id="11" name="Rectangle 10"/>
          <p:cNvSpPr/>
          <p:nvPr/>
        </p:nvSpPr>
        <p:spPr>
          <a:xfrm>
            <a:off x="746760" y="5384800"/>
            <a:ext cx="1259840" cy="63383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46760" y="4701640"/>
            <a:ext cx="1259840" cy="22791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46760" y="3962400"/>
            <a:ext cx="1259840" cy="42047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 err="1" smtClean="0">
                <a:solidFill>
                  <a:schemeClr val="tx1"/>
                </a:solidFill>
              </a:rPr>
              <a:t>Heatsink</a:t>
            </a:r>
            <a:endParaRPr lang="en-GB" sz="1100" dirty="0">
              <a:solidFill>
                <a:schemeClr val="tx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40080" y="5081275"/>
            <a:ext cx="1473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2</a:t>
            </a:r>
            <a:endParaRPr lang="en-GB" sz="1100" dirty="0"/>
          </a:p>
        </p:txBody>
      </p:sp>
      <p:sp>
        <p:nvSpPr>
          <p:cNvPr id="15" name="ZoneTexte 14"/>
          <p:cNvSpPr txBox="1"/>
          <p:nvPr/>
        </p:nvSpPr>
        <p:spPr>
          <a:xfrm>
            <a:off x="640080" y="4470511"/>
            <a:ext cx="1447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…</a:t>
            </a:r>
            <a:endParaRPr lang="en-GB" sz="1100" dirty="0"/>
          </a:p>
        </p:txBody>
      </p:sp>
      <p:sp>
        <p:nvSpPr>
          <p:cNvPr id="16" name="ZoneTexte 15"/>
          <p:cNvSpPr txBox="1"/>
          <p:nvPr/>
        </p:nvSpPr>
        <p:spPr>
          <a:xfrm>
            <a:off x="652780" y="3670310"/>
            <a:ext cx="1447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 smtClean="0"/>
              <a:t>Block N</a:t>
            </a:r>
            <a:endParaRPr lang="en-GB" sz="1100" dirty="0"/>
          </a:p>
        </p:txBody>
      </p:sp>
      <p:sp>
        <p:nvSpPr>
          <p:cNvPr id="17" name="Double flèche horizontale 16"/>
          <p:cNvSpPr/>
          <p:nvPr/>
        </p:nvSpPr>
        <p:spPr>
          <a:xfrm>
            <a:off x="2763519" y="4939718"/>
            <a:ext cx="2536035" cy="27236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ZoneTexte 17"/>
          <p:cNvSpPr txBox="1"/>
          <p:nvPr/>
        </p:nvSpPr>
        <p:spPr>
          <a:xfrm>
            <a:off x="2758443" y="5246131"/>
            <a:ext cx="2563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Equivalent thermal arrangement</a:t>
            </a:r>
            <a:endParaRPr lang="en-GB" sz="1400" dirty="0"/>
          </a:p>
        </p:txBody>
      </p:sp>
      <p:cxnSp>
        <p:nvCxnSpPr>
          <p:cNvPr id="19" name="Connecteur droit 18"/>
          <p:cNvCxnSpPr/>
          <p:nvPr/>
        </p:nvCxnSpPr>
        <p:spPr>
          <a:xfrm>
            <a:off x="2696985" y="3677920"/>
            <a:ext cx="408590" cy="0"/>
          </a:xfrm>
          <a:prstGeom prst="line">
            <a:avLst/>
          </a:prstGeom>
          <a:ln w="1905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3197015" y="3495040"/>
            <a:ext cx="2048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</a:rPr>
              <a:t>Outer cabinet area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696985" y="4023360"/>
            <a:ext cx="40859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3197014" y="3840480"/>
            <a:ext cx="2111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 smtClean="0">
                <a:solidFill>
                  <a:schemeClr val="accent2"/>
                </a:solidFill>
              </a:rPr>
              <a:t>Inner</a:t>
            </a:r>
            <a:r>
              <a:rPr lang="fr-FR" dirty="0" smtClean="0">
                <a:solidFill>
                  <a:schemeClr val="accent2"/>
                </a:solidFill>
              </a:rPr>
              <a:t> cabinet area</a:t>
            </a:r>
            <a:endParaRPr lang="en-GB" dirty="0">
              <a:solidFill>
                <a:schemeClr val="accent2"/>
              </a:solidFill>
            </a:endParaRPr>
          </a:p>
        </p:txBody>
      </p:sp>
      <p:cxnSp>
        <p:nvCxnSpPr>
          <p:cNvPr id="23" name="Connecteur droit 22"/>
          <p:cNvCxnSpPr/>
          <p:nvPr/>
        </p:nvCxnSpPr>
        <p:spPr>
          <a:xfrm>
            <a:off x="2707145" y="4368800"/>
            <a:ext cx="408590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3207174" y="4185920"/>
            <a:ext cx="21014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Outer </a:t>
            </a:r>
            <a:r>
              <a:rPr lang="fr-FR" dirty="0" err="1" smtClean="0">
                <a:solidFill>
                  <a:srgbClr val="FF0000"/>
                </a:solidFill>
              </a:rPr>
              <a:t>heatsink</a:t>
            </a:r>
            <a:r>
              <a:rPr lang="fr-FR" dirty="0" smtClean="0">
                <a:solidFill>
                  <a:srgbClr val="FF0000"/>
                </a:solidFill>
              </a:rPr>
              <a:t> area</a:t>
            </a:r>
            <a:endParaRPr lang="en-GB" dirty="0">
              <a:solidFill>
                <a:srgbClr val="FF0000"/>
              </a:solidFill>
            </a:endParaRPr>
          </a:p>
        </p:txBody>
      </p:sp>
      <p:grpSp>
        <p:nvGrpSpPr>
          <p:cNvPr id="25" name="Groupe 24"/>
          <p:cNvGrpSpPr/>
          <p:nvPr/>
        </p:nvGrpSpPr>
        <p:grpSpPr>
          <a:xfrm>
            <a:off x="5797973" y="3490918"/>
            <a:ext cx="2099262" cy="3241040"/>
            <a:chOff x="5302684" y="3612838"/>
            <a:chExt cx="1788160" cy="3241040"/>
          </a:xfrm>
        </p:grpSpPr>
        <p:sp>
          <p:nvSpPr>
            <p:cNvPr id="26" name="Rectangle 25"/>
            <p:cNvSpPr/>
            <p:nvPr/>
          </p:nvSpPr>
          <p:spPr>
            <a:xfrm>
              <a:off x="5302684" y="3612838"/>
              <a:ext cx="1788160" cy="324104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rgbClr val="0070C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455085" y="3779520"/>
              <a:ext cx="1473200" cy="2905760"/>
            </a:xfrm>
            <a:prstGeom prst="rect">
              <a:avLst/>
            </a:prstGeom>
            <a:solidFill>
              <a:schemeClr val="bg1"/>
            </a:solidFill>
            <a:ln w="25400" cmpd="sng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664198" y="4048174"/>
              <a:ext cx="1062809" cy="2374318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ZoneTexte 28"/>
          <p:cNvSpPr txBox="1"/>
          <p:nvPr/>
        </p:nvSpPr>
        <p:spPr>
          <a:xfrm>
            <a:off x="6143413" y="3926254"/>
            <a:ext cx="138998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 i="1" dirty="0" err="1" smtClean="0"/>
              <a:t>Emitter</a:t>
            </a:r>
            <a:r>
              <a:rPr lang="fr-FR" sz="1400" dirty="0" smtClean="0"/>
              <a:t> (</a:t>
            </a:r>
            <a:r>
              <a:rPr lang="fr-FR" sz="1400" dirty="0" err="1" smtClean="0"/>
              <a:t>heat</a:t>
            </a:r>
            <a:r>
              <a:rPr lang="fr-FR" sz="1400" dirty="0" smtClean="0"/>
              <a:t> </a:t>
            </a:r>
            <a:r>
              <a:rPr lang="fr-FR" sz="1400" dirty="0" err="1" smtClean="0"/>
              <a:t>sink</a:t>
            </a:r>
            <a:r>
              <a:rPr lang="fr-FR" sz="1400" dirty="0" smtClean="0"/>
              <a:t>):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Convective </a:t>
            </a:r>
            <a:r>
              <a:rPr lang="fr-FR" sz="1000" dirty="0" smtClean="0"/>
              <a:t>surface </a:t>
            </a:r>
            <a:endParaRPr lang="fr-FR" sz="1000" b="1" i="1" dirty="0" smtClean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Equivalente radiant </a:t>
            </a:r>
            <a:r>
              <a:rPr lang="fr-FR" sz="1000" dirty="0" smtClean="0"/>
              <a:t>surface</a:t>
            </a:r>
            <a:endParaRPr lang="fr-FR" sz="1000" b="1" i="1" dirty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Equivalent </a:t>
            </a:r>
            <a:r>
              <a:rPr lang="fr-FR" sz="1000" dirty="0" err="1" smtClean="0"/>
              <a:t>emissivity</a:t>
            </a:r>
            <a:endParaRPr lang="fr-FR" sz="1000" b="1" i="1" dirty="0" smtClean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smtClean="0"/>
              <a:t>Mass</a:t>
            </a:r>
            <a:r>
              <a:rPr lang="fr-FR" sz="1000" dirty="0" smtClean="0"/>
              <a:t>:</a:t>
            </a:r>
            <a:endParaRPr lang="fr-FR" sz="1000" dirty="0" smtClean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fr-FR" sz="1000" dirty="0" err="1" smtClean="0"/>
              <a:t>Internal</a:t>
            </a:r>
            <a:r>
              <a:rPr lang="fr-FR" sz="1000" dirty="0" smtClean="0"/>
              <a:t> </a:t>
            </a:r>
            <a:r>
              <a:rPr lang="fr-FR" sz="1000" dirty="0" err="1" smtClean="0"/>
              <a:t>heat</a:t>
            </a:r>
            <a:r>
              <a:rPr lang="fr-FR" sz="1000" dirty="0" smtClean="0"/>
              <a:t> </a:t>
            </a:r>
            <a:r>
              <a:rPr lang="fr-FR" sz="1000" dirty="0" err="1" smtClean="0"/>
              <a:t>load</a:t>
            </a:r>
            <a:endParaRPr lang="en-GB" sz="1000" dirty="0"/>
          </a:p>
        </p:txBody>
      </p:sp>
      <p:sp>
        <p:nvSpPr>
          <p:cNvPr id="36" name="ZoneTexte 35"/>
          <p:cNvSpPr txBox="1"/>
          <p:nvPr/>
        </p:nvSpPr>
        <p:spPr>
          <a:xfrm>
            <a:off x="5797973" y="3399478"/>
            <a:ext cx="20992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i="1" dirty="0" smtClean="0"/>
              <a:t>Casing</a:t>
            </a:r>
            <a:endParaRPr lang="en-GB" sz="2000" b="1" i="1" dirty="0"/>
          </a:p>
        </p:txBody>
      </p:sp>
    </p:spTree>
    <p:extLst>
      <p:ext uri="{BB962C8B-B14F-4D97-AF65-F5344CB8AC3E}">
        <p14:creationId xmlns:p14="http://schemas.microsoft.com/office/powerpoint/2010/main" val="4219784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2714</TotalTime>
  <Words>180</Words>
  <Application>Microsoft Office PowerPoint</Application>
  <PresentationFormat>Grand écran</PresentationFormat>
  <Paragraphs>83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EDF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MARSOLLIER Felix</dc:creator>
  <cp:lastModifiedBy>MARSOLLIER Felix</cp:lastModifiedBy>
  <cp:revision>52</cp:revision>
  <dcterms:created xsi:type="dcterms:W3CDTF">2019-07-15T14:50:35Z</dcterms:created>
  <dcterms:modified xsi:type="dcterms:W3CDTF">2020-02-12T17:06:32Z</dcterms:modified>
</cp:coreProperties>
</file>